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PINN Study Report: Theory to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Presenter: Sun Jingyi</a:t>
            </a:r>
          </a:p>
          <a:p>
            <a:pPr/>
            <a:r>
              <a:t>Topic: PINN, L-BFGS, and Inverse Problems</a:t>
            </a:r>
          </a:p>
          <a:p>
            <a:pPr/>
            <a:r>
              <a:t>Date: 2025-11-24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Why PINN?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Solving PDEs without mesh generation.</a:t>
            </a:r>
          </a:p>
          <a:p>
            <a:pPr/>
            <a:r>
              <a:t>Handling data scarcity by integrating physical laws.</a:t>
            </a:r>
          </a:p>
          <a:p>
            <a:pPr/>
            <a:r>
              <a:t>Crucial for high-dimensional problems (e.g., Finance).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Inputs: (x, t)</a:t>
            </a:r>
          </a:p>
          <a:p>
            <a:pPr/>
            <a:r>
              <a:t>Outputs: u(x, t)</a:t>
            </a:r>
          </a:p>
          <a:p>
            <a:pPr/>
            <a:r>
              <a:t>Loss Function = MSE_Data + lambda * MSE_PDE</a:t>
            </a:r>
          </a:p>
          <a:p>
            <a:pPr lvl="1"/>
            <a:r>
              <a:t> Neural Network acts as a function approximator.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Diagram of PINN Architecture]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Automatic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 Enabler: torch.autograd</a:t>
            </a:r>
          </a:p>
          <a:p>
            <a:pPr/>
            <a:r>
              <a:t>Allows exact calculation of derivatives (u_x, u_xx) w.r.t inputs.</a:t>
            </a:r>
          </a:p>
          <a:p>
            <a:pPr/>
            <a:r>
              <a:t>Not numerical approximation (Finite Difference).</a:t>
            </a:r>
          </a:p>
          <a:p>
            <a:pPr lvl="1"/>
            <a:r>
              <a:t> Enables the 'Physics Loss' term.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Multi-objective Optimization:</a:t>
            </a:r>
          </a:p>
          <a:p>
            <a:pPr lvl="1"/>
            <a:r>
              <a:t> Balancing Boundary Loss vs. PDE Residual Loss.</a:t>
            </a:r>
          </a:p>
          <a:p>
            <a:pPr/>
            <a:r>
              <a:t>Landscape Issue:</a:t>
            </a:r>
          </a:p>
          <a:p>
            <a:pPr lvl="1"/>
            <a:r>
              <a:t> 'Long-narrow valley' problem in error surface.</a:t>
            </a:r>
          </a:p>
          <a:p>
            <a:pPr lvl="1"/>
            <a:r>
              <a:t> Standard Gradient Descent converges slowly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Image of Long-narrow valley from PPT]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First-Order Optimization (Adam)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Formula: x_{i+1} = x_i - lr * grad(f)</a:t>
            </a:r>
          </a:p>
          <a:p>
            <a:pPr/>
            <a:r>
              <a:t>Pros:</a:t>
            </a:r>
          </a:p>
          <a:p>
            <a:pPr lvl="1"/>
            <a:r>
              <a:t> Robust to noise.</a:t>
            </a:r>
          </a:p>
          <a:p>
            <a:pPr lvl="1"/>
            <a:r>
              <a:t> Computationally cheap per step.</a:t>
            </a:r>
          </a:p>
          <a:p>
            <a:pPr/>
            <a:r>
              <a:t>Cons:</a:t>
            </a:r>
          </a:p>
          <a:p>
            <a:pPr lvl="1"/>
            <a:r>
              <a:t> Ignores curvature information.</a:t>
            </a:r>
          </a:p>
          <a:p>
            <a:pPr lvl="1"/>
            <a:r>
              <a:t> Slow convergence near the minimum.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Second-Order Optimization (Newton's)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Uses Curvature (Hessian Matrix).</a:t>
            </a:r>
          </a:p>
          <a:p>
            <a:pPr/>
            <a:r>
              <a:t>Formula: x_{i+1} = x_i - H^{-1} * grad(f)</a:t>
            </a:r>
          </a:p>
          <a:p>
            <a:pPr/>
            <a:r>
              <a:t>Pros:</a:t>
            </a:r>
          </a:p>
          <a:p>
            <a:pPr lvl="1"/>
            <a:r>
              <a:t> Extremely fast convergence (Quadratic).</a:t>
            </a:r>
          </a:p>
          <a:p>
            <a:pPr/>
            <a:r>
              <a:t>Cons:</a:t>
            </a:r>
          </a:p>
          <a:p>
            <a:pPr lvl="1"/>
            <a:r>
              <a:t> Calculating Inverse Hessian is expensive.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Levenberg-Marquardt (LM)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blend of Gradient Descent and Gauss-Newton.</a:t>
            </a:r>
          </a:p>
          <a:p>
            <a:pPr/>
            <a:r>
              <a:t>Formula involves (H + lambda * I)^-1.</a:t>
            </a:r>
          </a:p>
          <a:p>
            <a:pPr/>
            <a:r>
              <a:t>Adaptive lambda:</a:t>
            </a:r>
          </a:p>
          <a:p>
            <a:pPr lvl="1"/>
            <a:r>
              <a:t> Large lambda -&gt; Gradient Descent behavior.</a:t>
            </a:r>
          </a:p>
          <a:p>
            <a:pPr lvl="1"/>
            <a:r>
              <a:t> Small lambda -&gt; Newton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L-BFGS/LM for PINN?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Parameter scale is relatively small (&lt; 100k) compared to LLMs.</a:t>
            </a:r>
          </a:p>
          <a:p>
            <a:pPr/>
            <a:r>
              <a:t>Full-matrix operations (Jacobian) are feasible.</a:t>
            </a:r>
          </a:p>
          <a:p>
            <a:pPr/>
            <a:r>
              <a:t>Provides high precision (1e-7) required for scientific computing.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First-order (Adam) is good for exploration.</a:t>
            </a:r>
          </a:p>
          <a:p>
            <a:pPr/>
            <a:r>
              <a:t>Second-order (L-BFGS) is superior for fine-tuning.</a:t>
            </a:r>
          </a:p>
          <a:p>
            <a:pPr/>
            <a:r>
              <a:t>Next: Analyzing Professor's L-BFGS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Overview: Elliptic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Target Equation: -Laplacian(u) = f</a:t>
            </a:r>
          </a:p>
          <a:p>
            <a:pPr/>
            <a:r>
              <a:t>Domain: 2D Square [-1, 1]</a:t>
            </a:r>
          </a:p>
          <a:p>
            <a:pPr/>
            <a:r>
              <a:t>Reference Solution: u = cos(y)</a:t>
            </a:r>
          </a:p>
          <a:p>
            <a:pPr/>
            <a:r>
              <a:t>Objective: Verify L-BFGS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Structure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Module: Uses 'Functorch' for Jacobian calculation.</a:t>
            </a:r>
          </a:p>
          <a:p>
            <a:pPr/>
            <a:r>
              <a:t>Model: Fully Connected Network (2 -&gt; 20 -&gt; 1).</a:t>
            </a:r>
          </a:p>
          <a:p>
            <a:pPr/>
            <a:r>
              <a:t>Loss: Boundary MSE + Residual MSE.</a:t>
            </a:r>
          </a:p>
          <a:p>
            <a:pPr/>
            <a:r>
              <a:t>Optimizer: torch.optim.LBFGS.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Screenshot of Code Structure]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L-BFGS Implementation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 Parameters:</a:t>
            </a:r>
          </a:p>
          <a:p>
            <a:pPr lvl="1"/>
            <a:r>
              <a:t> history_size = 50</a:t>
            </a:r>
          </a:p>
          <a:p>
            <a:pPr lvl="1"/>
            <a:r>
              <a:t> line_search_fn = 'strong_wolfe'</a:t>
            </a:r>
          </a:p>
          <a:p>
            <a:pPr/>
            <a:r>
              <a:t>Strong Wolfe ensures sufficient decrease per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Using 'functorch.jacrev' and 'vmap'.</a:t>
            </a:r>
          </a:p>
          <a:p>
            <a:pPr/>
            <a:r>
              <a:t>Calculates exact Hessian (Laplacian) efficiently.</a:t>
            </a:r>
          </a:p>
          <a:p>
            <a:pPr lvl="1"/>
            <a:r>
              <a:t> f_xx + f_yy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Code Screenshot: Residual Function]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Chebyshev Points vs. Uniform Grid.</a:t>
            </a:r>
          </a:p>
          <a:p>
            <a:pPr/>
            <a:r>
              <a:t>Chebyshev nodes minimize interpolation error at boundaries.</a:t>
            </a:r>
          </a:p>
          <a:p>
            <a:pPr/>
            <a:r>
              <a:t>Essential for high-accuracy PDE solving.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Scatter plot of Grid Points]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Results: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Loss dropped rapidly.</a:t>
            </a:r>
          </a:p>
          <a:p>
            <a:pPr/>
            <a:r>
              <a:t>Final Loss: ~ 2.3e-07</a:t>
            </a:r>
          </a:p>
          <a:p>
            <a:pPr/>
            <a:r>
              <a:t>Converged within 1000 iterations.</a:t>
            </a:r>
          </a:p>
          <a:p>
            <a:pPr/>
            <a:r>
              <a:t>Validates the high-precision claim of L-BFGS.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Screenshot of Terminal Output (e-07)]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Results: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L_inf Error: 0.00023 (0.02%)</a:t>
            </a:r>
          </a:p>
          <a:p>
            <a:pPr/>
            <a:r>
              <a:t>L_2 Error: ~ 0.0</a:t>
            </a:r>
          </a:p>
          <a:p>
            <a:pPr/>
            <a:r>
              <a:t>Conclusion: L-BFGS achieves machine-precision level accuracy for steady-state problems.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Prediction vs. Exact Solution.</a:t>
            </a:r>
          </a:p>
          <a:p>
            <a:pPr/>
            <a:r>
              <a:t>Visually indistinguishable.</a:t>
            </a:r>
          </a:p>
          <a:p>
            <a:pPr/>
            <a:r>
              <a:t>Smooth gradients captured perfectly.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Screenshot of 3D Surface Plot]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Pros:</a:t>
            </a:r>
          </a:p>
          <a:p>
            <a:pPr lvl="1"/>
            <a:r>
              <a:t> Extremely accurate.</a:t>
            </a:r>
          </a:p>
          <a:p>
            <a:pPr lvl="1"/>
            <a:r>
              <a:t> Fast convergence per epoch.</a:t>
            </a:r>
          </a:p>
          <a:p>
            <a:pPr/>
            <a:r>
              <a:t>Cons:</a:t>
            </a:r>
          </a:p>
          <a:p>
            <a:pPr lvl="1"/>
            <a:r>
              <a:t> Heavy computation per step (Jacobian).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L-BFGS works great for Elliptic (Steady).</a:t>
            </a:r>
          </a:p>
          <a:p>
            <a:pPr/>
            <a:r>
              <a:t>Challenge: What about Time-Dependent problems with Shocks?</a:t>
            </a:r>
          </a:p>
          <a:p>
            <a:pPr/>
            <a:r>
              <a:t>Introducing Extension I: Burgers' Equation.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 I: Burgers'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Goal: Simulate Fluid Dynamics with Shock Waves.</a:t>
            </a:r>
          </a:p>
          <a:p>
            <a:pPr/>
            <a:r>
              <a:t>Equation: u_t + u*u_x = nu * u_xx</a:t>
            </a:r>
          </a:p>
          <a:p>
            <a:pPr/>
            <a:r>
              <a:t>Features:</a:t>
            </a:r>
          </a:p>
          <a:p>
            <a:pPr lvl="1"/>
            <a:r>
              <a:t> Non-linear convection (u*u_x).</a:t>
            </a:r>
          </a:p>
          <a:p>
            <a:pPr lvl="1"/>
            <a:r>
              <a:t> Diffusion (nu * u_xx).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Time: t in [0, 1]</a:t>
            </a:r>
          </a:p>
          <a:p>
            <a:pPr/>
            <a:r>
              <a:t>Space: x in [-1, 1]</a:t>
            </a:r>
          </a:p>
          <a:p>
            <a:pPr/>
            <a:r>
              <a:t>Initial Condition: u = -sin(pi * x)</a:t>
            </a:r>
          </a:p>
          <a:p>
            <a:pPr lvl="1"/>
            <a:r>
              <a:t> Creates a collision at x=0.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Optimizer Choice: Why Adam?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Problem Landscape is Non-convex and complex due to Shocks.</a:t>
            </a:r>
          </a:p>
          <a:p>
            <a:pPr/>
            <a:r>
              <a:t>L-BFGS might get stuck early.</a:t>
            </a:r>
          </a:p>
          <a:p>
            <a:pPr/>
            <a:r>
              <a:t>Used Adam for robust exploration of the solution space.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Network: 2 Inputs -&gt; Tanh -&gt; 1 Output.</a:t>
            </a:r>
          </a:p>
          <a:p>
            <a:pPr/>
            <a:r>
              <a:t>Physics Loss Implementation:</a:t>
            </a:r>
          </a:p>
          <a:p>
            <a:pPr lvl="1"/>
            <a:r>
              <a:t> f = u_t + u*u_x - (0.01/pi)*u_xx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Code Screenshot: Physics Loss]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Initial Phase: Learning the boundary.</a:t>
            </a:r>
          </a:p>
          <a:p>
            <a:pPr/>
            <a:r>
              <a:t>Middle Phase: Learning the slope.</a:t>
            </a:r>
          </a:p>
          <a:p>
            <a:pPr/>
            <a:r>
              <a:t>Final Phase: Sharpening the shock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Screenshot of Loss Curve]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Result: Shock Wave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Heatmap Visualization (Time vs Space).</a:t>
            </a:r>
          </a:p>
          <a:p>
            <a:pPr/>
            <a:r>
              <a:t>Observation:</a:t>
            </a:r>
          </a:p>
          <a:p>
            <a:pPr lvl="1"/>
            <a:r>
              <a:t> Smooth sine wave at t=0.</a:t>
            </a:r>
          </a:p>
          <a:p>
            <a:pPr lvl="1"/>
            <a:r>
              <a:t> Sharp discontinuity forms at t=0.5.</a:t>
            </a:r>
          </a:p>
          <a:p>
            <a:pPr lvl="1"/>
            <a:r>
              <a:t> Validates Physics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Your 'Burgers_Solution.png' Heatmap]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'Collision':</a:t>
            </a:r>
          </a:p>
          <a:p>
            <a:pPr lvl="1"/>
            <a:r>
              <a:t> Top fluid moves down (Blue).</a:t>
            </a:r>
          </a:p>
          <a:p>
            <a:pPr lvl="1"/>
            <a:r>
              <a:t> Bottom fluid moves up (Red).</a:t>
            </a:r>
          </a:p>
          <a:p>
            <a:pPr lvl="1"/>
            <a:r>
              <a:t> They meet at x=0, creating a shock.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Gradient Pathology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Issue: IC Loss is harder to minimize than PDE Loss.</a:t>
            </a:r>
          </a:p>
          <a:p>
            <a:pPr/>
            <a:r>
              <a:t>Solution: Weighted Loss Function.</a:t>
            </a:r>
          </a:p>
          <a:p>
            <a:pPr lvl="1"/>
            <a:r>
              <a:t> Loss = L_PDE + 20 * L_IC + 20 * L_BC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Comparison with Exact Solution (if available) or physical intuition.</a:t>
            </a:r>
          </a:p>
          <a:p>
            <a:pPr/>
            <a:r>
              <a:t>The sharpness of the shock depends on viscosity (nu).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extended PINN to time-dependent dynamics.</a:t>
            </a:r>
          </a:p>
          <a:p>
            <a:pPr/>
            <a:r>
              <a:t>Simulated Shock Waves using Adam.</a:t>
            </a:r>
          </a:p>
          <a:p>
            <a:pPr/>
            <a:r>
              <a:t>Next: Can we inverse this process?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 II: Inverse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Motivation: Quantitative Finance (Model Calibration).</a:t>
            </a:r>
          </a:p>
          <a:p>
            <a:pPr/>
            <a:r>
              <a:t>Scenario: We see prices (u), but don't know Volatility (nu).</a:t>
            </a:r>
          </a:p>
          <a:p>
            <a:pPr/>
            <a:r>
              <a:t>Goal: Discover 'nu' from noisy data.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Assumption: u_t + u*u_x = [?] * u_xx</a:t>
            </a:r>
          </a:p>
          <a:p>
            <a:pPr/>
            <a:r>
              <a:t>Treat 'nu' as a learnable parameter.</a:t>
            </a:r>
          </a:p>
          <a:p>
            <a:pPr/>
            <a:r>
              <a:t>Loss = L_Data + L_PDE(nu)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Code: self.nu_log = nn.Parameter(...)</a:t>
            </a:r>
          </a:p>
          <a:p>
            <a:pPr/>
            <a:r>
              <a:t>Using Logarithm to ensure positivity.</a:t>
            </a:r>
          </a:p>
          <a:p>
            <a:pPr/>
            <a:r>
              <a:t>Optimizer updates both Weights and Nu.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Code Screenshot: nn.Parameter]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1: The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Initial Attempt: No Observation Data.</a:t>
            </a:r>
          </a:p>
          <a:p>
            <a:pPr/>
            <a:r>
              <a:t>Result: Nu converged to 0.15 (Wrong!) instead of 0.003.</a:t>
            </a:r>
          </a:p>
          <a:p>
            <a:pPr/>
            <a:r>
              <a:t>Reason: 'Spectral Bias'. Network prefers smooth solutions (High Nu).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Screenshot of Failed Nu Plot]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Importance of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Garbage In, Garbage Out.</a:t>
            </a:r>
          </a:p>
          <a:p>
            <a:pPr/>
            <a:r>
              <a:t>Generated high-quality 'Shock Data' using a pre-trained Teacher model.</a:t>
            </a:r>
          </a:p>
          <a:p>
            <a:pPr/>
            <a:r>
              <a:t>Constraint: Data forces the network to accept the sharp shock.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Innovation: Parameter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Challenge: Nu converges too slowly compared to weights.</a:t>
            </a:r>
          </a:p>
          <a:p>
            <a:pPr/>
            <a:r>
              <a:t>Solution: Differential Learning Rates.</a:t>
            </a:r>
          </a:p>
          <a:p>
            <a:pPr lvl="1"/>
            <a:r>
              <a:t> Net LR = 0.005</a:t>
            </a:r>
          </a:p>
          <a:p>
            <a:pPr lvl="1"/>
            <a:r>
              <a:t> Nu LR = 0.05 (10x faster)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Code Screenshot: Optimizer Grouping]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Result: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Observed Nu dropping from 0.36 to 0.003.</a:t>
            </a:r>
          </a:p>
          <a:p>
            <a:pPr/>
            <a:r>
              <a:t>Monotonic convergence.</a:t>
            </a:r>
          </a:p>
          <a:p>
            <a:pPr/>
            <a:r>
              <a:t>Demonstrates robust calibration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[PLACEHOLDER: Your 'Nu_Fixed.png' Plot]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Initial Error: &gt; 1000%</a:t>
            </a:r>
          </a:p>
          <a:p>
            <a:pPr/>
            <a:r>
              <a:t>Final Error: &lt; 15%</a:t>
            </a:r>
          </a:p>
          <a:p>
            <a:pPr/>
            <a:r>
              <a:t>Achieved correct order of magnitude (1e-3).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Physics: Viscosity (nu) -&gt; Smoothness of Shock.</a:t>
            </a:r>
          </a:p>
          <a:p>
            <a:pPr/>
            <a:r>
              <a:t>Finance: Volatility (sigma) -&gt; Spread of Probability.</a:t>
            </a:r>
          </a:p>
          <a:p>
            <a:pPr/>
            <a:r>
              <a:t>This experiment simulates 'Implied Volatility' calibration.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solved the Inverse Problem.</a:t>
            </a:r>
          </a:p>
          <a:p>
            <a:pPr/>
            <a:r>
              <a:t>Highlighted the need for good data and specific optimization strategies.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Comparison: Adam vs. L-BFGS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Precision: L-BFGS (1e-7) &gt;&gt;&gt; Adam (1e-3).</a:t>
            </a:r>
          </a:p>
          <a:p>
            <a:pPr/>
            <a:r>
              <a:t>Robustness: Adam &gt;&gt;&gt; L-BFGS (better for noise).</a:t>
            </a:r>
          </a:p>
          <a:p>
            <a:pPr/>
            <a:r>
              <a:t>Speed: L-BFGS is faster per epoch, but heavier per step.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When to use L-BFGS?</a:t>
            </a:r>
          </a:p>
          <a:p>
            <a:pPr lvl="1"/>
            <a:r>
              <a:t> Forward problems, Smooth solutions, High precision needed.</a:t>
            </a:r>
          </a:p>
          <a:p>
            <a:pPr/>
            <a:r>
              <a:t>When to use Adam?</a:t>
            </a:r>
          </a:p>
          <a:p>
            <a:pPr lvl="1"/>
            <a:r>
              <a:t> Inverse problems, Noisy data, Complex landscapes (Shocks).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Hybrid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1: Adam</a:t>
            </a:r>
          </a:p>
          <a:p>
            <a:pPr lvl="1"/>
            <a:r>
              <a:t> Fast initialization, finding the 'basin' of global minimum.</a:t>
            </a:r>
          </a:p>
          <a:p>
            <a:pPr/>
            <a:r>
              <a:t>Phase 2: L-BFGS</a:t>
            </a:r>
          </a:p>
          <a:p>
            <a:pPr lvl="1"/>
            <a:r>
              <a:t> Fine-tuning to reach machine precision (1e-7).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in Quant Finance: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Solving Black-Scholes PDE.</a:t>
            </a:r>
          </a:p>
          <a:p>
            <a:pPr/>
            <a:r>
              <a:t>Handling Exotic Options (Barrier, Asian) where formulas don't exist.</a:t>
            </a:r>
          </a:p>
          <a:p>
            <a:pPr/>
            <a:r>
              <a:t>High-dimensional Basket Options.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in Quant Finance: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Constructing Local Volatility Surfaces.</a:t>
            </a:r>
          </a:p>
          <a:p>
            <a:pPr/>
            <a:r>
              <a:t>Using Inverse PINN to match market option prices.</a:t>
            </a:r>
          </a:p>
          <a:p>
            <a:pPr/>
            <a:r>
              <a:t>Real-time parameter estimation.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High-Dimensionality:</a:t>
            </a:r>
          </a:p>
          <a:p>
            <a:pPr lvl="1"/>
            <a:r>
              <a:t> Curse of dimensionality in PDEs.</a:t>
            </a:r>
          </a:p>
          <a:p>
            <a:pPr lvl="1"/>
            <a:r>
              <a:t> Solution: Monte-Carlo sampling + PINN.</a:t>
            </a:r>
          </a:p>
          <a:p>
            <a:pPr/>
            <a:r>
              <a:t>Transfer Learning:</a:t>
            </a:r>
          </a:p>
          <a:p>
            <a:pPr lvl="1"/>
            <a:r>
              <a:t> Re-using models for changing market conditions.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Verified Professor's L-BFGS code (High Precision).</a:t>
            </a:r>
          </a:p>
          <a:p>
            <a:pPr/>
            <a:r>
              <a:t>Extended to Time-Dependent Shock Waves (Project A).</a:t>
            </a:r>
          </a:p>
          <a:p>
            <a:pPr/>
            <a:r>
              <a:t>Solved Inverse Calibration Problem (Project B).</a:t>
            </a:r>
          </a:p>
          <a:p>
            <a:pPr/>
            <a:r>
              <a:t>Gained deep insight into Optimization Strategies.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Thank you for listening.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